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ACCDD"/>
                </a:solidFill>
              </a:rPr>
              <a:t>AI-POWERED SUPPLY CHAIN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Transforming Supply
Chain Decision-Making
with Real-Time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474720"/>
            <a:ext cx="3200400" cy="36576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217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0B1F3B"/>
                </a:solidFill>
              </a:rPr>
              <a:t>Live Platform  ·  Demo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7A90"/>
                </a:solidFill>
              </a:rPr>
              <a:t>THREE LAYERS. ONE PLATFORM.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804672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B1F3B"/>
                </a:solidFill>
              </a:rPr>
              <a:t>Complete Visibility Across
Your Entire Supply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532120" cy="13716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965960"/>
            <a:ext cx="64008" cy="118872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6208" y="1965960"/>
            <a:ext cx="5623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3B"/>
                </a:solidFill>
              </a:rPr>
              <a:t>WDE — Warehouse Diagnosis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0487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Real-time KPI monitoring, AI exception detection,
auto-generated corrective actions.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429000"/>
            <a:ext cx="64008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6208" y="3429000"/>
            <a:ext cx="5623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5204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3B"/>
                </a:solidFill>
              </a:rPr>
              <a:t>TMS — Supply Master Transportation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6791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Live shipment tracking, carrier performance,
cost &amp; delay analytics across all modes.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892040"/>
            <a:ext cx="64008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6208" y="4892040"/>
            <a:ext cx="5623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98347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3B"/>
                </a:solidFill>
              </a:rPr>
              <a:t>Planning — Demand &amp; Supply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309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Demand-supply gap analysis, stockout early
warning, Gen AI assistant for instant queries.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9E96"/>
                </a:solidFill>
              </a:rPr>
              <a:t>PLATFORM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One Platform. Three Layers. Full Supply Chain Intelligence.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7033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703320" cy="50292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1F3B"/>
                </a:solidFill>
              </a:rPr>
              <a:t>WDE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F3B"/>
                </a:solidFill>
              </a:rPr>
              <a:t>Warehouse Diagnosis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92807"/>
            <a:ext cx="64008" cy="6400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1783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Real-time KPI monitoring (pick rate, accuracy, utilisation)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13432"/>
            <a:ext cx="64008" cy="6400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2037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AI drift monitor — detects decline before it becomes a crisis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34056"/>
            <a:ext cx="64008" cy="6400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26243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Exception Action Panel with auto-generated corrective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54680"/>
            <a:ext cx="64008" cy="6400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3044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One-click 'Approve &amp; Send to Ops Team' — no email chains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75304"/>
            <a:ext cx="64008" cy="6400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346557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Inbound / outbound exception classification by severity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143000"/>
            <a:ext cx="37033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1959" y="1143000"/>
            <a:ext cx="370332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11704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1F3B"/>
                </a:solidFill>
              </a:rPr>
              <a:t>TMS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37160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F3B"/>
                </a:solidFill>
              </a:rPr>
              <a:t>Supply Master Transportation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1892807"/>
            <a:ext cx="64008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9431" y="1783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Live tracking: on-time rate, delay rate, cost per shipment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313432"/>
            <a:ext cx="64008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1" y="22037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Carrier &amp; route-level drill-down for instant root cause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2734056"/>
            <a:ext cx="64008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99431" y="26243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Filters by carrier, mode, region, date range, order 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3154680"/>
            <a:ext cx="64008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9431" y="3044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CO₂ emissions tracking for ESG &amp; sustainability reporting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3575304"/>
            <a:ext cx="64008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99431" y="346557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Tender acceptance rate — negotiation intelligence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1143000"/>
            <a:ext cx="37033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83879" y="1143000"/>
            <a:ext cx="370332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0" y="11704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B1F3B"/>
                </a:solidFill>
              </a:rPr>
              <a:t>Planning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137160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F3B"/>
                </a:solidFill>
              </a:rPr>
              <a:t>Demand &amp; Supply Planning Hub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59" y="1892807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31352" y="1783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Upload CSV — demand vs supply gap analysis in seconds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59" y="2313432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31352" y="22037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Stockout early warning weeks before peak season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59" y="2734056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31352" y="26243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Month-on-month trend across SKUs, warehouses, regions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59" y="3154680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31352" y="3044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Gen AI Assistant — query incident history in plain English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59" y="3575304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31352" y="346557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Data Hub: upload data to all 3 layers from one screen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0584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384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Peak Season Demand Surge — Beverage SKUs at Stockout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005840"/>
            <a:ext cx="1198778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488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4864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SITUATION: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16128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D3A4A"/>
                </a:solidFill>
              </a:rPr>
              <a:t>Summer or festive season approaches. Demand for Food &amp; Beverage SKUs accelerates faster than the supply plan. The gap is only discovered when shelves are already short.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4069080" cy="3246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828800"/>
            <a:ext cx="406908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❌  WITHOUT THIS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14016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Demand plan and supply plan managed in separate Excel files across teams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9504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No single view of which SKUs are at risk — analysis is manual and slow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64992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Stockout discovered too late — reorder window has already passed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40479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Retailers face empty shelves during the highest-revenue period of the year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28800"/>
            <a:ext cx="4069080" cy="32461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828800"/>
            <a:ext cx="406908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✅  WITH OUR AI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6592" y="2414016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Platform shows Stockout Risk (High SKUs) and Days of Cover in real 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2889504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Demand Variance KPI flags SKUs where actual demand outpaces the 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6592" y="3364992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Filter by Category: Food &amp; Beverages — isolate the relevant portfolio instantly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40479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Supply team acts early — inventory secured before the demand peak hits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1828800"/>
            <a:ext cx="3044952" cy="3246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823960" y="1828800"/>
            <a:ext cx="3044952" cy="329184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15400" y="1892807"/>
            <a:ext cx="2862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9669"/>
                </a:solidFill>
              </a:rPr>
              <a:t>  HOW IT 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249424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61120" y="2249424"/>
            <a:ext cx="54864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32257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Demand Signal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265176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Platform detects demand outpacing supply for key SKUs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6708" y="300837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59669"/>
                </a:solidFill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182112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61120" y="3182112"/>
            <a:ext cx="54864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25526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KPI Fires 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9992" y="3584448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Stockout Risk KPI and Days of Cover drop below threshold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36708" y="394106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59669"/>
                </a:solidFill>
              </a:rPr>
              <a:t>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4114800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61120" y="4114800"/>
            <a:ext cx="54864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418795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Team Acts Early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9992" y="4517136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Supply team secures inventory before the demand peak hits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230368"/>
            <a:ext cx="758952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20040" y="5230368"/>
            <a:ext cx="64008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52486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9669"/>
                </a:solidFill>
              </a:rPr>
              <a:t>OUTCOME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44068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Stockout risk surfaced early across the beverage portfolio. Supply team repositions inventory before retailer shelves are impacted.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961888"/>
            <a:ext cx="11548872" cy="5029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0040" y="5961888"/>
            <a:ext cx="64008" cy="50292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5980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E96"/>
                </a:solidFill>
              </a:rPr>
              <a:t>✨  AI FEATURE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1539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Email Alert: When Stockout Risk crosses the threshold, an automated alert is sent to the Supply Planning head — flagging exactly which SKUs need immediate action.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23960" y="5230368"/>
            <a:ext cx="30449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823960" y="5321808"/>
            <a:ext cx="30449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887968" y="534009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59669"/>
                </a:solidFill>
              </a:rPr>
              <a:t>KEY CAPABILITY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87968" y="55229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B1F3B"/>
                </a:solidFill>
              </a:rPr>
              <a:t>Stockout Risk &amp; Days of Cover — Planning Dashboard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0584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384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Inbound Receiving Bottleneck Slowing the Entire Warehouse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005840"/>
            <a:ext cx="11987784" cy="36576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488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4864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SITUATION: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16128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D3A4A"/>
                </a:solidFill>
              </a:rPr>
              <a:t>Inbound trucks are arriving on schedule but goods are sitting at the dock for hours before being put away. Dock-to-Stock time is climbing and nobody has flagged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4069080" cy="3246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828800"/>
            <a:ext cx="406908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❌  WITHOUT THIS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14016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Dock-to-Stock time tracked manually — no live visibility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9504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Receiving accuracy issues only caught after stock is already misplaced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64992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Warehouse manager finds out from a shift supervisor — too late in the 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40479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Outbound dispatch gets impacted as inbound congestion builds 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28800"/>
            <a:ext cx="4069080" cy="32461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828800"/>
            <a:ext cx="406908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✅  WITH OUR AI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6592" y="2414016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WDE Inbound Velocity page tracks Dock-to-Stock time live across shifts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2889504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Receiving Accuracy KPI flags mismatches before stock enters the 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6592" y="3364992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Disruption Risk Banner alerts the manager the moment a threshold is crossed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40479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Exception Action Panel generates corrective actions — sent to Ops in one click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1828800"/>
            <a:ext cx="3044952" cy="3246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823960" y="1828800"/>
            <a:ext cx="3044952" cy="329184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15400" y="1892807"/>
            <a:ext cx="2862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E96"/>
                </a:solidFill>
              </a:rPr>
              <a:t>  HOW IT 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249424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61120" y="2249424"/>
            <a:ext cx="54864" cy="74980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32257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Threshold Breach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265176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Dock-to-Stock time crosses limit — Disruption Risk Banner fires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6708" y="300837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9E96"/>
                </a:solidFill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182112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61120" y="3182112"/>
            <a:ext cx="54864" cy="74980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25526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 Generates Plan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9992" y="3584448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Exception Action Panel creates ranked corrective actions instantly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36708" y="394106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9E96"/>
                </a:solidFill>
              </a:rPr>
              <a:t>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4114800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61120" y="4114800"/>
            <a:ext cx="54864" cy="74980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418795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One-Click Dispatch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9992" y="4517136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Ops team receives the action plan — bottleneck cleared same shift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230368"/>
            <a:ext cx="7589520" cy="594360"/>
          </a:xfrm>
          <a:prstGeom prst="rect">
            <a:avLst/>
          </a:prstGeom>
          <a:solidFill>
            <a:srgbClr val="E0F5F4"/>
          </a:solidFill>
          <a:ln w="12700">
            <a:solidFill>
              <a:srgbClr val="009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20040" y="5230368"/>
            <a:ext cx="64008" cy="59436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52486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E96"/>
                </a:solidFill>
              </a:rPr>
              <a:t>OUTCOME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44068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Inbound bottleneck caught within the shift, not at day-end. Corrective action reaches the right team before outbound dispatch is affected.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961888"/>
            <a:ext cx="11548872" cy="5029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0040" y="5961888"/>
            <a:ext cx="64008" cy="50292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5980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E96"/>
                </a:solidFill>
              </a:rPr>
              <a:t>✨  AI FEATURE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1539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VAPI Calling Feature: When Dock-to-Stock time crosses the threshold, the AI agent automatically calls the Warehouse Manager, asks for a justification, and records the response as a transcript.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23960" y="5230368"/>
            <a:ext cx="3044952" cy="9144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823960" y="5321808"/>
            <a:ext cx="30449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887968" y="534009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9E96"/>
                </a:solidFill>
              </a:rPr>
              <a:t>KEY CAPABILITY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87968" y="55229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B1F3B"/>
                </a:solidFill>
              </a:rPr>
              <a:t>Inbound Velocity &amp; Receiving Accuracy — WDE Dashboard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0584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384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Perfect Order Rate Declining — Retailer Fill Rate Under Pressure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005840"/>
            <a:ext cx="11987784" cy="36576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488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4864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SITUATION: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16128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D3A4A"/>
                </a:solidFill>
              </a:rPr>
              <a:t>Retail partners start flagging incomplete orders. The ops team is looking at warehouse, logistics, and planning data separately — nobody sees the full picture.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4069080" cy="3246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828800"/>
            <a:ext cx="406908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❌  WITHOUT THIS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14016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Perfect Order Rate not tracked as a single metric — it lives in three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9504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Warehouse blames logistics, logistics blames planning — no shared KPI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64992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Retailer complaints arrive before the internal team has identified the issue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40479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Resolution requires a cross-functional meeting that takes days to convene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28800"/>
            <a:ext cx="4069080" cy="32461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4572000" y="1828800"/>
            <a:ext cx="406908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✅  WITH OUR AI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6592" y="2414016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Unified Dashboard shows Perfect Order Rate as a single cross-layer KPI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2889504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Drills into Order Fill Rate (WMS), On-Time Delivery (TMS), Demand Variance (Planning)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6592" y="3364992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D3A4A"/>
                </a:solidFill>
              </a:rPr>
              <a:t>Supply Chain Reliability score shows which layer is pulling the metric down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40479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All three teams see the same number — aligned instantly, not in 3 days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1828800"/>
            <a:ext cx="3044952" cy="3246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823960" y="1828800"/>
            <a:ext cx="3044952" cy="329184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15400" y="1892807"/>
            <a:ext cx="2862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03AD4"/>
                </a:solidFill>
              </a:rPr>
              <a:t>  HOW IT 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249424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61120" y="2249424"/>
            <a:ext cx="54864" cy="749808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32257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Single KPI 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265176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Perfect Order Rate shown as one cross-layer metric on the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6708" y="300837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3AD4"/>
                </a:solidFill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182112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61120" y="3182112"/>
            <a:ext cx="54864" cy="749808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25526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Layer Drill-Down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9992" y="3584448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Platform identifies which layer — WMS, TMS, or Planning — is failing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36708" y="394106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3AD4"/>
                </a:solidFill>
              </a:rPr>
              <a:t>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4114800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61120" y="4114800"/>
            <a:ext cx="54864" cy="749808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418795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Same-Day Fix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9992" y="4517136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All three teams aligned on the same number — resolution coordinated instantly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230368"/>
            <a:ext cx="7589520" cy="594360"/>
          </a:xfrm>
          <a:prstGeom prst="rect">
            <a:avLst/>
          </a:prstGeom>
          <a:solidFill>
            <a:srgbClr val="F5F0FF"/>
          </a:solidFill>
          <a:ln w="12700">
            <a:solidFill>
              <a:srgbClr val="703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20040" y="5230368"/>
            <a:ext cx="64008" cy="594360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52486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3AD4"/>
                </a:solidFill>
              </a:rPr>
              <a:t>OUTCOME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44068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Perfect Order Rate tracked in one place. Root layer identified immediately — all three teams aligned and acting the same day.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961888"/>
            <a:ext cx="11548872" cy="5029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0040" y="5961888"/>
            <a:ext cx="64008" cy="50292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5980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E96"/>
                </a:solidFill>
              </a:rPr>
              <a:t>✨  AI FEATURE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1539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Gen AI Assistant: When Perfect Order Rate dips, any team member can ask 'What should we do now?' — the assistant draws on past incident knowledge and recommends the right corrective action.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23960" y="5230368"/>
            <a:ext cx="3044952" cy="91440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823960" y="5321808"/>
            <a:ext cx="30449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887968" y="534009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703AD4"/>
                </a:solidFill>
              </a:rPr>
              <a:t>KEY CAPABILITY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87968" y="55229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B1F3B"/>
                </a:solidFill>
              </a:rPr>
              <a:t>Perfect Order Rate &amp; Supply Chain Reliability — Unified Dashboard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0584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384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Carrier Underperforming on a Key Distribution Lane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005840"/>
            <a:ext cx="1198778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488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4864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SITUATION: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16128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D3A4A"/>
                </a:solidFill>
              </a:rPr>
              <a:t>A carrier handling a critical distribution lane shows a steady decline in on-time performance. The ops team has no visibility until a distributor escalates.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4069080" cy="3246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828800"/>
            <a:ext cx="406908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❌  WITHOUT THIS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14016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On-time data lives in the carrier's own portal — no consolidated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9504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Decline is gradual — no threshold alert fires until it becomes critical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64992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Tender acceptance rate not tracked — carrier negotiation done blind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40479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By the time it is escalated, multiple distributors are already affected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28800"/>
            <a:ext cx="4069080" cy="32461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828800"/>
            <a:ext cx="406908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✅  WITH OUR AI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6592" y="2414016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TMS Carrier Performance page tracks On-Time Rate per carrier in real 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2889504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Platform compares current period vs previous period — decline flagged automatically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6592" y="3364992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Tender Acceptance Rate gives negotiation leverage before the next contract cycle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40479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Delay Rate by route pinpoints worst-hit lanes — filter in one click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1828800"/>
            <a:ext cx="3044952" cy="3246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823960" y="1828800"/>
            <a:ext cx="3044952" cy="329184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15400" y="1892807"/>
            <a:ext cx="2862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  HOW IT 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249424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61120" y="2249424"/>
            <a:ext cx="54864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32257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Auto Comparison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265176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Platform compares current vs previous period for every carrier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6708" y="300837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7706"/>
                </a:solidFill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182112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61120" y="3182112"/>
            <a:ext cx="54864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25526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Decline Flagged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9992" y="3584448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Falling on-time rate and tender acceptance rate surfaced immediately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36708" y="394106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7706"/>
                </a:solidFill>
              </a:rPr>
              <a:t>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4114800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61120" y="4114800"/>
            <a:ext cx="54864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418795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Data-Led Action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9992" y="4517136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Procurement renegotiates or reallocates — backed by live lane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230368"/>
            <a:ext cx="758952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20040" y="5230368"/>
            <a:ext cx="64008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52486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706"/>
                </a:solidFill>
              </a:rPr>
              <a:t>OUTCOME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44068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Carrier performance decline caught early, before distributors are impacted. Procurement negotiates backed by live data, not anecdote.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961888"/>
            <a:ext cx="11548872" cy="5029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0040" y="5961888"/>
            <a:ext cx="64008" cy="50292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5980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E96"/>
                </a:solidFill>
              </a:rPr>
              <a:t>✨  AI FEATURE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1539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VAPI Calling Feature: When On-Time Rate drops below threshold, the AI agent calls the Logistics Head, asks for a justification, and records the conversation as a transcript for review.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23960" y="5230368"/>
            <a:ext cx="304495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823960" y="5321808"/>
            <a:ext cx="30449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887968" y="534009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97706"/>
                </a:solidFill>
              </a:rPr>
              <a:t>KEY CAPABILITY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87968" y="55229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B1F3B"/>
                </a:solidFill>
              </a:rPr>
              <a:t>Carrier On-Time Rate &amp; Tender Acceptance — TMS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0584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384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Dispatch Backlog Building — Orders Not Moving Out on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005840"/>
            <a:ext cx="11987784" cy="36576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488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4864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SITUATION: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16128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D3A4A"/>
                </a:solidFill>
              </a:rPr>
              <a:t>Order pendency is climbing. Outbound dispatches are falling behind plan. The floor team is aware but the escalation has not been triggered.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4069080" cy="3246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828800"/>
            <a:ext cx="406908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❌  WITHOUT THIS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14016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Order Pendency visible only in the next morning's daily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9504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On-Time Dispatch KPI not monitored intra-day — shift ends before anyone acts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64992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Backlog compounds across shifts — by Day 3 it is a full crisis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40479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Customer SLAs breached before leadership is even aware of the issue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28800"/>
            <a:ext cx="4069080" cy="32461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828800"/>
            <a:ext cx="406908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✅  WITH OUR AI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6592" y="2414016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WDE Dispatch Backlog page shows pending orders live across all shifts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2889504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Order Pendency and On-Time Dispatch KPIs update continuously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6592" y="3364992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Threshold breach triggers an exception — AI generates a prioritised action plan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40479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Ops team receives the plan instantly — backlog cleared before it escalates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1828800"/>
            <a:ext cx="3044952" cy="3246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823960" y="1828800"/>
            <a:ext cx="3044952" cy="329184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15400" y="1892807"/>
            <a:ext cx="2862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E96"/>
                </a:solidFill>
              </a:rPr>
              <a:t>  HOW IT 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249424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61120" y="2249424"/>
            <a:ext cx="54864" cy="74980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32257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Live 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265176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Order Pendency KPI crosses threshold — exception raised mid-shift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6708" y="300837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9E96"/>
                </a:solidFill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182112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61120" y="3182112"/>
            <a:ext cx="54864" cy="74980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25526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 Action Plan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9992" y="3584448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AI generates a prioritised backlog recovery plan automatically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36708" y="394106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9E96"/>
                </a:solidFill>
              </a:rPr>
              <a:t>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4114800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61120" y="4114800"/>
            <a:ext cx="54864" cy="74980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418795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Instant Dispatch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9992" y="4517136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Ops team acts on the plan — backlog cleared before day-end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230368"/>
            <a:ext cx="7589520" cy="594360"/>
          </a:xfrm>
          <a:prstGeom prst="rect">
            <a:avLst/>
          </a:prstGeom>
          <a:solidFill>
            <a:srgbClr val="E0F5F4"/>
          </a:solidFill>
          <a:ln w="12700">
            <a:solidFill>
              <a:srgbClr val="009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20040" y="5230368"/>
            <a:ext cx="64008" cy="59436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52486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E96"/>
                </a:solidFill>
              </a:rPr>
              <a:t>OUTCOME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44068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Dispatch backlog flagged within the same shift. Ops team mobilised before the backlog compounds or a single customer SLA is missed.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961888"/>
            <a:ext cx="11548872" cy="5029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0040" y="5961888"/>
            <a:ext cx="64008" cy="50292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5980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E96"/>
                </a:solidFill>
              </a:rPr>
              <a:t>✨  AI FEATURE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1539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Email Alert: When Order Pendency crosses the threshold, an automated alert is sent to the Operations Manager — with the current backlog count and the breached KPI highlighted.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23960" y="5230368"/>
            <a:ext cx="3044952" cy="9144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823960" y="5321808"/>
            <a:ext cx="30449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887968" y="534009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9E96"/>
                </a:solidFill>
              </a:rPr>
              <a:t>KEY CAPABILITY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87968" y="55229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B1F3B"/>
                </a:solidFill>
              </a:rPr>
              <a:t>Dispatch Backlog &amp; Order Pendency — WDE Live KPIs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0584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384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Supply Chain Disruption — See It Before the Customer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005840"/>
            <a:ext cx="11987784" cy="36576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488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4864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SITUATION: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16128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D3A4A"/>
                </a:solidFill>
              </a:rPr>
              <a:t>A supplier delay hits inbound. The warehouse gets congested. Outbound slows. Carriers start missing windows. Each team sees only their own piece of the problem.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4069080" cy="3246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828800"/>
            <a:ext cx="406908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❌  WITHOUT THIS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14016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Supplier, warehouse, logistics, and planning data in four separate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9504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No end-to-end view — disruption propagates silently across the chain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64992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Leadership gets a fragmented picture across multiple status calls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40479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Customer feels the disruption before any team has a complete 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28800"/>
            <a:ext cx="4069080" cy="32461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828800"/>
            <a:ext cx="406908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✅  WITH OUR AI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6592" y="2414016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Resilient Control Tower: Supplier → Warehouse → Transport → Customer on one screen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2889504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Each node shows a live health score — green, amber, or red at a glance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6592" y="3364992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Flow arrows between nodes show where the bottleneck sits right now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40479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Cross-layer alerts surface automatically — no status calls needed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1828800"/>
            <a:ext cx="3044952" cy="3246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823960" y="1828800"/>
            <a:ext cx="3044952" cy="329184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15400" y="1892807"/>
            <a:ext cx="2862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03AD4"/>
                </a:solidFill>
              </a:rPr>
              <a:t>  HOW IT 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249424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61120" y="2249424"/>
            <a:ext cx="54864" cy="749808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32257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Node Turns 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265176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Disruption detected at one node — health score drops to 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6708" y="300837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3AD4"/>
                </a:solidFill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182112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61120" y="3182112"/>
            <a:ext cx="54864" cy="749808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25526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Chain Impact Mapped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9992" y="3584448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AI correlates impact across all downstream nodes automatically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36708" y="394106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3AD4"/>
                </a:solidFill>
              </a:rPr>
              <a:t>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4114800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61120" y="4114800"/>
            <a:ext cx="54864" cy="749808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418795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Coordinated Fix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9992" y="4517136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Response team sees the full picture — acts before customer is affected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230368"/>
            <a:ext cx="7589520" cy="594360"/>
          </a:xfrm>
          <a:prstGeom prst="rect">
            <a:avLst/>
          </a:prstGeom>
          <a:solidFill>
            <a:srgbClr val="F5F0FF"/>
          </a:solidFill>
          <a:ln w="12700">
            <a:solidFill>
              <a:srgbClr val="703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20040" y="5230368"/>
            <a:ext cx="64008" cy="594360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52486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3AD4"/>
                </a:solidFill>
              </a:rPr>
              <a:t>OUTCOME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44068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End-to-end supply chain health on one screen. Disruption pinpointed to the exact node — response coordinated before the customer is impacted.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961888"/>
            <a:ext cx="11548872" cy="5029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0040" y="5961888"/>
            <a:ext cx="64008" cy="50292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5980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E96"/>
                </a:solidFill>
              </a:rPr>
              <a:t>✨  AI FEATURE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1539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VAPI Calling Feature: When the Control Tower detects a cross-layer disruption, the AI agent calls the Supply Chain Head, briefs them on the affected nodes, and records their response as an accountable transcript.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23960" y="5230368"/>
            <a:ext cx="3044952" cy="91440"/>
          </a:xfrm>
          <a:prstGeom prst="rect">
            <a:avLst/>
          </a:prstGeom>
          <a:solidFill>
            <a:srgbClr val="703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823960" y="5321808"/>
            <a:ext cx="30449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887968" y="534009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703AD4"/>
                </a:solidFill>
              </a:rPr>
              <a:t>KEY CAPABILITY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87968" y="55229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B1F3B"/>
                </a:solidFill>
              </a:rPr>
              <a:t>End-to-End Node Health — Resilient Control Tower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0584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384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Freight Cost Visibility Without Waiting for Finance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005840"/>
            <a:ext cx="1198778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488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4864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SITUATION: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16128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D3A4A"/>
                </a:solidFill>
              </a:rPr>
              <a:t>Freight costs on key distribution lanes are rising. The logistics team suspects it but cannot quantify it without waiting for the monthly finance consolidation.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4069080" cy="3246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828800"/>
            <a:ext cx="406908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❌  WITHOUT THIS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14016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Cost per shipment tracked only after carrier invoices are reconciled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9504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Route-level visibility requires manual extraction from multiple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64992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Finance consolidation takes weeks — every decision is retrospective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40479"/>
            <a:ext cx="64008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Procurement negotiates the next contract without current cost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28800"/>
            <a:ext cx="4069080" cy="32461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828800"/>
            <a:ext cx="406908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18653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✅  WITH OUR AI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6592" y="2414016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2322576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TMS Cost Analytics shows Cost per Shipment live — no finance wait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2889504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279806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Route-level breakdown identifies the most expensive lanes right now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6592" y="3364992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327355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Average Transit Time shown alongside cost — efficiency and spend together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840479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3749039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Procurement enters negotiations with current, lane-level data as leverage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1828800"/>
            <a:ext cx="3044952" cy="3246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823960" y="1828800"/>
            <a:ext cx="3044952" cy="329184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15400" y="1892807"/>
            <a:ext cx="2862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  HOW IT 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249424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61120" y="2249424"/>
            <a:ext cx="54864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79992" y="23682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32257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Cost Spike Visible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265176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Cost per Shipment KPI rises — route-level breakdown available 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6708" y="3008375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7706"/>
                </a:solidFill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182112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61120" y="3182112"/>
            <a:ext cx="54864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79992" y="33009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25526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Lane Identified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9992" y="3584448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Most expensive lane pinpointed without any manual data extraction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36708" y="3941063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7706"/>
                </a:solidFill>
              </a:rPr>
              <a:t>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4114800"/>
            <a:ext cx="2770632" cy="749808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61120" y="4114800"/>
            <a:ext cx="54864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79992" y="42336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1F3B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418795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Negotiate with Data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9992" y="4517136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C4D8"/>
                </a:solidFill>
              </a:rPr>
              <a:t>Procurement enters carrier talks with current, accurate lane cost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230368"/>
            <a:ext cx="758952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20040" y="5230368"/>
            <a:ext cx="64008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52486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706"/>
                </a:solidFill>
              </a:rPr>
              <a:t>OUTCOME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44068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Freight cost visibility moves from a monthly finance report to a live dashboard. Procurement negotiates from a position of current, accurate data.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961888"/>
            <a:ext cx="11548872" cy="5029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0040" y="5961888"/>
            <a:ext cx="64008" cy="50292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5980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E96"/>
                </a:solidFill>
              </a:rPr>
              <a:t>✨  AI FEATURE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1539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Gen AI Assistant: Team can ask 'What worked last time freight costs spiked on this lane?' — the assistant draws on historical incident knowledge and recommends a proven course of action.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23960" y="5230368"/>
            <a:ext cx="304495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823960" y="5321808"/>
            <a:ext cx="30449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887968" y="534009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97706"/>
                </a:solidFill>
              </a:rPr>
              <a:t>KEY CAPABILITY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87968" y="55229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B1F3B"/>
                </a:solidFill>
              </a:rPr>
              <a:t>Live Cost per Shipment &amp; Route Analytics — TMS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9E96"/>
                </a:solidFill>
              </a:rPr>
              <a:t>WHAT YOU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From Reactive to Proactive — Across Every Layer of Your Supply 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960120"/>
            <a:ext cx="11987784" cy="36576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033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0332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07008"/>
            <a:ext cx="54864" cy="15727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3B"/>
                </a:solidFill>
              </a:rPr>
              <a:t>Same-Day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82495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KPI breaches and exceptions surface the same day they occur — not at month-end.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115568"/>
            <a:ext cx="37033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59" y="1115568"/>
            <a:ext cx="37033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59" y="1207008"/>
            <a:ext cx="54864" cy="15727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2984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3B"/>
                </a:solidFill>
              </a:rPr>
              <a:t>Zero Manual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682495"/>
            <a:ext cx="3383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D3A4A"/>
                </a:solidFill>
              </a:rPr>
              <a:t>Live dashboards replace Excel consolidation entirely.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115568"/>
            <a:ext cx="37033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1115568"/>
            <a:ext cx="3703320" cy="9144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79" y="1207008"/>
            <a:ext cx="54864" cy="157276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59" y="12984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3B"/>
                </a:solidFill>
              </a:rPr>
              <a:t>One Platform, One 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682495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WDE + TMS + Planning accessible from a single URL. No tool-switching, no silos.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17520"/>
            <a:ext cx="37033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017520"/>
            <a:ext cx="370332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3108960"/>
            <a:ext cx="54864" cy="15727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2004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3B"/>
                </a:solidFill>
              </a:rPr>
              <a:t>Institutional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584448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Every incident, root cause, and resolution is stored and queryable via Gen AI.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3017520"/>
            <a:ext cx="37033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51959" y="3017520"/>
            <a:ext cx="37033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51959" y="3108960"/>
            <a:ext cx="54864" cy="15727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34840" y="32004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3B"/>
                </a:solidFill>
              </a:rPr>
              <a:t>Proactive Early Warnings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584448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Amber alerts fire before red crises. Act before SLAs are missed.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3017520"/>
            <a:ext cx="37033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83879" y="3017520"/>
            <a:ext cx="3703320" cy="9144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83879" y="3108960"/>
            <a:ext cx="54864" cy="1572768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66759" y="32004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F3B"/>
                </a:solidFill>
              </a:rPr>
              <a:t>Voice-Enabled Intelligence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9" y="3584448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Query any KPI out loud during a meeting. Answer in seconds, not days.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047488"/>
            <a:ext cx="64008" cy="1261872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1663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Ready to deploy. Live today.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2191</Words>
  <Application>Microsoft Office PowerPoint</Application>
  <PresentationFormat>Custom</PresentationFormat>
  <Paragraphs>266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Sumedha Kashyap</cp:lastModifiedBy>
  <cp:revision>4</cp:revision>
  <dcterms:created xsi:type="dcterms:W3CDTF">2013-01-27T09:14:16Z</dcterms:created>
  <dcterms:modified xsi:type="dcterms:W3CDTF">2026-04-07T14:25:21Z</dcterms:modified>
  <cp:category/>
</cp:coreProperties>
</file>